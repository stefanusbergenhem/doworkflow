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Calibri Light"/>
              </a:defRPr>
            </a:pPr>
            <a:r>
              <a:t>VModelWorkflow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B4A0"/>
                </a:solidFill>
                <a:latin typeface="Calibri"/>
              </a:defRPr>
            </a:pPr>
            <a:r>
              <a:t>V-Model Development Framework for Safety-Critical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840480"/>
            <a:ext cx="210312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20624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B8C8"/>
                </a:solidFill>
                <a:latin typeface="Calibri"/>
              </a:defRPr>
            </a:pPr>
            <a:r>
              <a:t>Bridging safety standards, clean code, and AI-driven development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0B8C8"/>
                </a:solidFill>
                <a:latin typeface="Calibri"/>
              </a:defRPr>
            </a:pPr>
            <a:r>
              <a:t>Safety-critical software must follow strict V-model standards. Compliance is expensive, painful, and often disconnected from actual quality.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468880" cy="256032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834640"/>
            <a:ext cx="457200" cy="4572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Understanding Standards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Dense, domain-specific documents.</a:t>
            </a:r>
            <a:br/>
            <a:r>
              <a:t>Translating to daily work is hard.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560320"/>
            <a:ext cx="2468880" cy="256032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9040" y="2834640"/>
            <a:ext cx="457200" cy="4572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3017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 Practical Frameworks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65760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Tools handle pieces, but none</a:t>
            </a:r>
            <a:br/>
            <a:r>
              <a:t>provide end-to-end coverage.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2468880" cy="256032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2834640"/>
            <a:ext cx="457200" cy="4572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017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Documentation Overhead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5760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Traceability eats 30-50% of</a:t>
            </a:r>
            <a:br/>
            <a:r>
              <a:t>documentation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560320"/>
            <a:ext cx="2468880" cy="256032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2834640"/>
            <a:ext cx="457200" cy="4572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3017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Quality Disconnect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65760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Compliance becomes a checkbox</a:t>
            </a:r>
            <a:br/>
            <a:r>
              <a:t>exercise, not engineering quality.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8C42"/>
                </a:solidFill>
                <a:latin typeface="Calibri"/>
              </a:defRPr>
            </a:pPr>
            <a:r>
              <a:t>Result: significant overhead, audit failures, and compliance work that doesn't improve actual software.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is the V-Model?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0B8C8"/>
                </a:solidFill>
                <a:latin typeface="Calibri"/>
              </a:defRPr>
            </a:pPr>
            <a:r>
              <a:t>A development &amp; verification framework used across all safety-critical industries.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94560"/>
            <a:ext cx="2377440" cy="548640"/>
          </a:xfrm>
          <a:prstGeom prst="roundRect">
            <a:avLst/>
          </a:prstGeom>
          <a:solidFill>
            <a:srgbClr val="007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System Requirements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16975" y="2194560"/>
            <a:ext cx="2377440" cy="548640"/>
          </a:xfrm>
          <a:prstGeom prst="roundRect">
            <a:avLst/>
          </a:prstGeom>
          <a:solidFill>
            <a:srgbClr val="00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16975" y="2286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System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4967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B4A0"/>
                </a:solidFill>
                <a:latin typeface="Calibri"/>
              </a:defRPr>
            </a:pPr>
            <a:r>
              <a:t>&lt; - - traceability - - 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2971800"/>
            <a:ext cx="2377440" cy="548640"/>
          </a:xfrm>
          <a:prstGeom prst="roundRect">
            <a:avLst/>
          </a:prstGeom>
          <a:solidFill>
            <a:srgbClr val="007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30632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SW 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895" y="2971800"/>
            <a:ext cx="2377440" cy="548640"/>
          </a:xfrm>
          <a:prstGeom prst="roundRect">
            <a:avLst/>
          </a:prstGeom>
          <a:solidFill>
            <a:srgbClr val="00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6895" y="30632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Integration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063240"/>
            <a:ext cx="3687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B4A0"/>
                </a:solidFill>
                <a:latin typeface="Calibri"/>
              </a:defRPr>
            </a:pPr>
            <a:r>
              <a:t>&lt; - - traceability - - 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3749040"/>
            <a:ext cx="2377440" cy="548640"/>
          </a:xfrm>
          <a:prstGeom prst="roundRect">
            <a:avLst/>
          </a:prstGeom>
          <a:solidFill>
            <a:srgbClr val="007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38404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SW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36815" y="3749040"/>
            <a:ext cx="2377440" cy="548640"/>
          </a:xfrm>
          <a:prstGeom prst="roundRect">
            <a:avLst/>
          </a:prstGeom>
          <a:solidFill>
            <a:srgbClr val="00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36815" y="38404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Component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840480"/>
            <a:ext cx="24076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B4A0"/>
                </a:solidFill>
                <a:latin typeface="Calibri"/>
              </a:defRPr>
            </a:pPr>
            <a:r>
              <a:t>&lt; - - traceability - - 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4526280"/>
            <a:ext cx="2377440" cy="548640"/>
          </a:xfrm>
          <a:prstGeom prst="roundRect">
            <a:avLst/>
          </a:prstGeom>
          <a:solidFill>
            <a:srgbClr val="007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4617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Detailed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96735" y="4526280"/>
            <a:ext cx="2377440" cy="548640"/>
          </a:xfrm>
          <a:prstGeom prst="roundRect">
            <a:avLst/>
          </a:prstGeom>
          <a:solidFill>
            <a:srgbClr val="00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6735" y="4617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Unit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4617720"/>
            <a:ext cx="1127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B4A0"/>
                </a:solidFill>
                <a:latin typeface="Calibri"/>
              </a:defRPr>
            </a:pPr>
            <a:r>
              <a:t>&lt; - - traceability - - 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90007" y="5303520"/>
            <a:ext cx="2011680" cy="54864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0007" y="5394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Source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Universal across DO-178C (aviation) | ISO 26262 (automotive) | ASPICE | IEC 62304 (medical) | EN 50128 (railway)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Opportunity: AI Changes Everything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4A0"/>
                </a:solidFill>
                <a:latin typeface="Calibri"/>
              </a:defRPr>
            </a:pPr>
            <a:r>
              <a:t>AI performs better with more guardrails, stricter instructions, and layered design. This is exactly what the V-model provides.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9184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Standards Demand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80360"/>
            <a:ext cx="3291840" cy="47548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Design before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3291840" cy="475488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Small, testable units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86200"/>
            <a:ext cx="3291840" cy="47548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776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Naming conventions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89120"/>
            <a:ext cx="3291840" cy="475488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80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No dead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92040"/>
            <a:ext cx="3291840" cy="47548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83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Structured error handling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94960"/>
            <a:ext cx="3291840" cy="475488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864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Testability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2286000"/>
            <a:ext cx="3291840" cy="502920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Clean Code Teaches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880360"/>
            <a:ext cx="3291840" cy="47548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9718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Understand before coding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383280"/>
            <a:ext cx="3291840" cy="475488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4747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Functions under 20 lines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886200"/>
            <a:ext cx="3291840" cy="47548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39776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Names reveal intent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4389120"/>
            <a:ext cx="3291840" cy="475488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4480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Delete unused code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4892040"/>
            <a:ext cx="3291840" cy="47548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4983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No null returns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5394960"/>
            <a:ext cx="3291840" cy="475488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54864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If hard to test, redesign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2286000"/>
            <a:ext cx="3291840" cy="5029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AI Needs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2880360"/>
            <a:ext cx="3291840" cy="47548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29718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Spec-first approach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3383280"/>
            <a:ext cx="3291840" cy="475488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34747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Accuracy degrades with size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0" y="3886200"/>
            <a:ext cx="3291840" cy="47548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39776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Names are primary context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0" y="4389120"/>
            <a:ext cx="3291840" cy="475488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18120" y="4480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AI over-generates; prune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4892040"/>
            <a:ext cx="3291840" cy="47548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18120" y="4983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AI omits error paths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0" y="5394960"/>
            <a:ext cx="3291840" cy="475488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18120" y="54864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Test-first = success criteria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8C42"/>
                </a:solidFill>
                <a:latin typeface="Calibri"/>
              </a:defRPr>
            </a:pPr>
            <a:r>
              <a:t>V-model compliance, clean code, and AI-driven development demand the same discipline -- from different motivations.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Four Independent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0B8C8"/>
                </a:solidFill>
                <a:latin typeface="Calibri"/>
              </a:defRPr>
            </a:pPr>
            <a:r>
              <a:t>Each component works alone. The real value is the combination.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468880" cy="320040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377440"/>
            <a:ext cx="502920" cy="50292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23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743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96D6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154680"/>
            <a:ext cx="1920240" cy="1828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V-model education, best practices,</a:t>
            </a:r>
            <a:br/>
            <a:r>
              <a:t>anti-patterns, examples.</a:t>
            </a:r>
            <a:br/>
            <a:r>
              <a:t>Depth equivalent to major standards.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103120"/>
            <a:ext cx="2468880" cy="320040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49040" y="2377440"/>
            <a:ext cx="502920" cy="50292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423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423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Templates &amp; Schemas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743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B4A0"/>
                </a:solidFill>
                <a:latin typeface="Calibri"/>
              </a:defRPr>
            </a:pPr>
            <a:r>
              <a:t>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40" y="3154680"/>
            <a:ext cx="1920240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338328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Artifact definitions, checklists,</a:t>
            </a:r>
            <a:br/>
            <a:r>
              <a:t>assurance levels, domain</a:t>
            </a:r>
            <a:br/>
            <a:r>
              <a:t>translation across standards.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103120"/>
            <a:ext cx="2468880" cy="320040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2377440"/>
            <a:ext cx="502920" cy="5029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423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423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Traceability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743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8C42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154680"/>
            <a:ext cx="1920240" cy="1828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8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Many-to-many linking, automated</a:t>
            </a:r>
            <a:br/>
            <a:r>
              <a:t>validation, orphan detection,</a:t>
            </a:r>
            <a:br/>
            <a:r>
              <a:t>change impact analysis.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2103120"/>
            <a:ext cx="2468880" cy="320040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35440" y="2377440"/>
            <a:ext cx="502920" cy="502920"/>
          </a:xfrm>
          <a:prstGeom prst="ellipse">
            <a:avLst/>
          </a:prstGeom>
          <a:solidFill>
            <a:srgbClr val="AA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2423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423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Skills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743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66CC"/>
                </a:solidFill>
                <a:latin typeface="Calibri"/>
              </a:defRPr>
            </a:pPr>
            <a:r>
              <a:t>Automation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3154680"/>
            <a:ext cx="1920240" cy="18288"/>
          </a:xfrm>
          <a:prstGeom prst="rect">
            <a:avLst/>
          </a:prstGeom>
          <a:solidFill>
            <a:srgbClr val="AA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338328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Craft skills (standalone) +</a:t>
            </a:r>
            <a:br/>
            <a:r>
              <a:t>Framework skills (orchestration).</a:t>
            </a:r>
            <a:br/>
            <a:r>
              <a:t>Works on smaller AI models.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It Works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4114800" cy="5486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What You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892040" y="1645920"/>
            <a:ext cx="6858000" cy="5486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75564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What You 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4114800" cy="6400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749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Documentation alone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2286000"/>
            <a:ext cx="6858000" cy="6400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2423160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Comprehensive V-model education &amp; best practices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71800"/>
            <a:ext cx="4114800" cy="640080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3749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Templates alone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2971800"/>
            <a:ext cx="6858000" cy="640080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3108960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Artifact definitions &amp; checklists for manual compliance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4114800" cy="6400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3749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Craft skills alone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3657600"/>
            <a:ext cx="6858000" cy="6400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3794760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Quality writing, test derivation, code dev for any project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43400"/>
            <a:ext cx="4114800" cy="640080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80560"/>
            <a:ext cx="3749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Docs + Templates + Traceability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4343400"/>
            <a:ext cx="6858000" cy="640080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4480560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Manual V-model dev with automated completeness checking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029200"/>
            <a:ext cx="4114800" cy="6400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66360"/>
            <a:ext cx="3749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8C42"/>
                </a:solidFill>
                <a:latin typeface="Calibri"/>
              </a:defRPr>
            </a:pPr>
            <a:r>
              <a:t>All four together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5029200"/>
            <a:ext cx="6858000" cy="6400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5166360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8C42"/>
                </a:solidFill>
                <a:latin typeface="Calibri"/>
              </a:defRPr>
            </a:pPr>
            <a:r>
              <a:t>Full agentic V-model development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Workflow: Human + AI Collaboration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0B8C8"/>
                </a:solidFill>
                <a:latin typeface="Calibri"/>
              </a:defRPr>
            </a:pPr>
            <a:r>
              <a:t>For each V-model layer, a mid-senior engineer orchestrates AI through three phases: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00400" cy="347472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20040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96D6"/>
                </a:solidFill>
                <a:latin typeface="Calibri"/>
              </a:defRPr>
            </a:pPr>
            <a:r>
              <a:t>HUMAN-DRIVEN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Research &amp;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200400"/>
            <a:ext cx="2651760" cy="1828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3547872"/>
            <a:ext cx="109728" cy="109728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Human provides context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4005072"/>
            <a:ext cx="109728" cy="109728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AI gathers &amp; analyzes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462272"/>
            <a:ext cx="109728" cy="109728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Back-and-forth discussion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919472"/>
            <a:ext cx="109728" cy="109728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Agreed plan produced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0B8C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103120"/>
            <a:ext cx="3200400" cy="347472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2103120"/>
            <a:ext cx="3200400" cy="54864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377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B4A0"/>
                </a:solidFill>
                <a:latin typeface="Calibri"/>
              </a:defRPr>
            </a:pPr>
            <a:r>
              <a:t>AGENT-ORCHESTRATED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743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200400"/>
            <a:ext cx="2651760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63440" y="3547872"/>
            <a:ext cx="109728" cy="109728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AI writes artifacts</a:t>
            </a:r>
          </a:p>
        </p:txBody>
      </p:sp>
      <p:sp>
        <p:nvSpPr>
          <p:cNvPr id="26" name="Oval 25"/>
          <p:cNvSpPr/>
          <p:nvPr/>
        </p:nvSpPr>
        <p:spPr>
          <a:xfrm>
            <a:off x="4663440" y="4005072"/>
            <a:ext cx="109728" cy="109728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AI self-checks quality</a:t>
            </a:r>
          </a:p>
        </p:txBody>
      </p:sp>
      <p:sp>
        <p:nvSpPr>
          <p:cNvPr id="28" name="Oval 27"/>
          <p:cNvSpPr/>
          <p:nvPr/>
        </p:nvSpPr>
        <p:spPr>
          <a:xfrm>
            <a:off x="4663440" y="4462272"/>
            <a:ext cx="109728" cy="109728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Review agent validates</a:t>
            </a:r>
          </a:p>
        </p:txBody>
      </p:sp>
      <p:sp>
        <p:nvSpPr>
          <p:cNvPr id="30" name="Oval 29"/>
          <p:cNvSpPr/>
          <p:nvPr/>
        </p:nvSpPr>
        <p:spPr>
          <a:xfrm>
            <a:off x="4663440" y="4919472"/>
            <a:ext cx="109728" cy="109728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Traceability auto-updated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0B8C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2103120"/>
            <a:ext cx="3200400" cy="347472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63840" y="2103120"/>
            <a:ext cx="320040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2377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8C42"/>
                </a:solidFill>
                <a:latin typeface="Calibri"/>
              </a:defRPr>
            </a:pPr>
            <a:r>
              <a:t>HUMAN-DRIVEN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2743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Final 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3200400"/>
            <a:ext cx="2651760" cy="1828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29600" y="3547872"/>
            <a:ext cx="109728" cy="109728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Human reviews output</a:t>
            </a:r>
          </a:p>
        </p:txBody>
      </p:sp>
      <p:sp>
        <p:nvSpPr>
          <p:cNvPr id="40" name="Oval 39"/>
          <p:cNvSpPr/>
          <p:nvPr/>
        </p:nvSpPr>
        <p:spPr>
          <a:xfrm>
            <a:off x="8229600" y="4005072"/>
            <a:ext cx="109728" cy="109728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Approves or rejects</a:t>
            </a:r>
          </a:p>
        </p:txBody>
      </p:sp>
      <p:sp>
        <p:nvSpPr>
          <p:cNvPr id="42" name="Oval 41"/>
          <p:cNvSpPr/>
          <p:nvPr/>
        </p:nvSpPr>
        <p:spPr>
          <a:xfrm>
            <a:off x="8229600" y="4462272"/>
            <a:ext cx="109728" cy="109728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Quality gate enforced</a:t>
            </a:r>
          </a:p>
        </p:txBody>
      </p:sp>
      <p:sp>
        <p:nvSpPr>
          <p:cNvPr id="44" name="Oval 43"/>
          <p:cNvSpPr/>
          <p:nvPr/>
        </p:nvSpPr>
        <p:spPr>
          <a:xfrm>
            <a:off x="8229600" y="4919472"/>
            <a:ext cx="109728" cy="109728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Transitions to next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8C42"/>
                </a:solidFill>
                <a:latin typeface="Calibri"/>
              </a:defRPr>
            </a:pPr>
            <a:r>
              <a:t>Not an autonomous pipeline. Human-orchestrated, AI-augmented.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Innovation: DRTDD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0B8C8"/>
                </a:solidFill>
                <a:latin typeface="Calibri"/>
              </a:defRPr>
            </a:pPr>
            <a:r>
              <a:t>Design-Requirement-Test Driven Development extends TDD with V-model discipline.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554480" cy="10058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REQUIRE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606040"/>
            <a:ext cx="228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0B8C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377440"/>
            <a:ext cx="1554480" cy="10058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25603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606040"/>
            <a:ext cx="228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0B8C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377440"/>
            <a:ext cx="1554480" cy="100584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5603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TEST</a:t>
            </a:r>
            <a:br/>
            <a:r>
              <a:t>(red)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606040"/>
            <a:ext cx="228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0B8C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377440"/>
            <a:ext cx="1554480" cy="10058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5603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IMPLEMENT</a:t>
            </a:r>
            <a:br/>
            <a:r>
              <a:t>(green)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606040"/>
            <a:ext cx="228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0B8C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377440"/>
            <a:ext cx="1554480" cy="1005840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5603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REFACTOR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606040"/>
            <a:ext cx="228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0B8C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2377440"/>
            <a:ext cx="1554480" cy="100584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25603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4D4D"/>
                </a:solidFill>
                <a:latin typeface="Calibri"/>
              </a:defRPr>
            </a:pPr>
            <a:r>
              <a:t>&lt; - - - - - - - - - - - -  gap found? feed back to REQUIRE  - - - - - - - - - - - - 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What DRTDD adds beyond standard TDD: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" y="5010912"/>
            <a:ext cx="91440" cy="9144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Requirements traceability at every step</a:t>
            </a:r>
          </a:p>
        </p:txBody>
      </p:sp>
      <p:sp>
        <p:nvSpPr>
          <p:cNvPr id="26" name="Oval 25"/>
          <p:cNvSpPr/>
          <p:nvPr/>
        </p:nvSpPr>
        <p:spPr>
          <a:xfrm>
            <a:off x="1097280" y="5422392"/>
            <a:ext cx="91440" cy="9144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Design rationale captured as artifacts</a:t>
            </a:r>
          </a:p>
        </p:txBody>
      </p:sp>
      <p:sp>
        <p:nvSpPr>
          <p:cNvPr id="28" name="Oval 27"/>
          <p:cNvSpPr/>
          <p:nvPr/>
        </p:nvSpPr>
        <p:spPr>
          <a:xfrm>
            <a:off x="1097280" y="5833872"/>
            <a:ext cx="91440" cy="9144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Safety analysis integration</a:t>
            </a:r>
          </a:p>
        </p:txBody>
      </p:sp>
      <p:sp>
        <p:nvSpPr>
          <p:cNvPr id="30" name="Oval 29"/>
          <p:cNvSpPr/>
          <p:nvPr/>
        </p:nvSpPr>
        <p:spPr>
          <a:xfrm>
            <a:off x="6126480" y="5010912"/>
            <a:ext cx="91440" cy="9144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Verification completeness beyond code coverage</a:t>
            </a:r>
          </a:p>
        </p:txBody>
      </p:sp>
      <p:sp>
        <p:nvSpPr>
          <p:cNvPr id="32" name="Oval 31"/>
          <p:cNvSpPr/>
          <p:nvPr/>
        </p:nvSpPr>
        <p:spPr>
          <a:xfrm>
            <a:off x="6126480" y="5422392"/>
            <a:ext cx="91440" cy="9144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Human gates between phases</a:t>
            </a:r>
          </a:p>
        </p:txBody>
      </p:sp>
      <p:sp>
        <p:nvSpPr>
          <p:cNvPr id="34" name="Oval 33"/>
          <p:cNvSpPr/>
          <p:nvPr/>
        </p:nvSpPr>
        <p:spPr>
          <a:xfrm>
            <a:off x="6126480" y="5833872"/>
            <a:ext cx="91440" cy="9144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Feedback loops to requirement level, not just code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Primary Market Entry: Legacy Retrofit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0B8C8"/>
                </a:solidFill>
                <a:latin typeface="Calibri"/>
              </a:defRPr>
            </a:pPr>
            <a:r>
              <a:t>The biggest value is not greenfield -- it's making existing legacy codebases V-model compliant.</a:t>
            </a:r>
            <a:br/>
            <a:r>
              <a:t>The volume of legacy code needing compliance far exceeds new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4846320" cy="100584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743200"/>
            <a:ext cx="54864" cy="6400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974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Analyze Existing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Understand structure, dependencies,</a:t>
            </a:r>
            <a:br/>
            <a:r>
              <a:t>implicit design decisions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560320"/>
            <a:ext cx="4846320" cy="100584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2743200"/>
            <a:ext cx="54864" cy="6400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Reverse-Engineer Artifacts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Infer requirements, designs, and</a:t>
            </a:r>
            <a:br/>
            <a:r>
              <a:t>test coverage from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4846320" cy="100584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4023360"/>
            <a:ext cx="54864" cy="6400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9776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Identify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29768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What's missing, implicit, or needs</a:t>
            </a:r>
            <a:br/>
            <a:r>
              <a:t>formalization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840480"/>
            <a:ext cx="4846320" cy="100584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4023360"/>
            <a:ext cx="54864" cy="6400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Suggest Improvements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Highlight where code falls short</a:t>
            </a:r>
            <a:br/>
            <a:r>
              <a:t>of best practices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B4A0"/>
                </a:solidFill>
                <a:latin typeface="Calibri"/>
              </a:defRPr>
            </a:pPr>
            <a:r>
              <a:t>Same components (documentation, templates, traceability, skills) applied bottom-up instead of top-down.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Market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78308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463040"/>
            <a:ext cx="269748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5361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463040"/>
            <a:ext cx="178308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153619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Safety Levels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65960"/>
            <a:ext cx="1783080" cy="42976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3911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Aviation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965960"/>
            <a:ext cx="2697480" cy="42976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20391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DO-178C / DO-330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965960"/>
            <a:ext cx="1783080" cy="42976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203911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DAL A-E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423160"/>
            <a:ext cx="1783080" cy="429768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49631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Automotive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423160"/>
            <a:ext cx="2697480" cy="429768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2496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ISO 26262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2423160"/>
            <a:ext cx="1783080" cy="429768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249631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ASIL A-D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880360"/>
            <a:ext cx="1783080" cy="42976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95351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Automotive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880360"/>
            <a:ext cx="2697480" cy="42976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29535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ASPICE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880360"/>
            <a:ext cx="1783080" cy="42976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295351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Level 1-5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337560"/>
            <a:ext cx="1783080" cy="429768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41071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Medical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337560"/>
            <a:ext cx="2697480" cy="429768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34107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IEC 62304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3337560"/>
            <a:ext cx="1783080" cy="429768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0680" y="341071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Class A-C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794760"/>
            <a:ext cx="1783080" cy="42976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86791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Railway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794760"/>
            <a:ext cx="2697480" cy="42976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97480" y="38679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EN 50128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3794760"/>
            <a:ext cx="1783080" cy="42976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386791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SIL 0-4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in Safety-Critical (2026)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1828800"/>
            <a:ext cx="1371600" cy="27432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49440" y="2176272"/>
            <a:ext cx="91440" cy="9144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780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No LLM tool qualified under DO-330 yet</a:t>
            </a:r>
          </a:p>
        </p:txBody>
      </p:sp>
      <p:sp>
        <p:nvSpPr>
          <p:cNvPr id="44" name="Oval 43"/>
          <p:cNvSpPr/>
          <p:nvPr/>
        </p:nvSpPr>
        <p:spPr>
          <a:xfrm>
            <a:off x="6949440" y="2633472"/>
            <a:ext cx="91440" cy="9144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~60% of DAL-A/B orgs ban generative AI</a:t>
            </a:r>
          </a:p>
        </p:txBody>
      </p:sp>
      <p:sp>
        <p:nvSpPr>
          <p:cNvPr id="46" name="Oval 45"/>
          <p:cNvSpPr/>
          <p:nvPr/>
        </p:nvSpPr>
        <p:spPr>
          <a:xfrm>
            <a:off x="6949440" y="3090672"/>
            <a:ext cx="91440" cy="9144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7804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~35% of automotive OEMs cautiously piloting</a:t>
            </a:r>
          </a:p>
        </p:txBody>
      </p:sp>
      <p:sp>
        <p:nvSpPr>
          <p:cNvPr id="48" name="Oval 47"/>
          <p:cNvSpPr/>
          <p:nvPr/>
        </p:nvSpPr>
        <p:spPr>
          <a:xfrm>
            <a:off x="6949440" y="3547872"/>
            <a:ext cx="91440" cy="9144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7804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Documentation gen is most accepted use case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4297680"/>
            <a:ext cx="10515600" cy="109728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520" y="4297680"/>
            <a:ext cx="73152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97280" y="44348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8C42"/>
                </a:solidFill>
                <a:latin typeface="Calibri"/>
              </a:defRPr>
            </a:pPr>
            <a:r>
              <a:t>The Gap VModelWorkflow Fills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48006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No existing framework addresses agentic AI in safety-critical development. VModelWorkflow treats AI as a suggestion engine -- AI generates, deterministic tools verify, humans approve.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24028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463040"/>
            <a:ext cx="315468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8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406908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It Misses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224028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DOORS / Polarion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011680"/>
            <a:ext cx="315468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1031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Requirements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406908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0312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4D4D"/>
                </a:solidFill>
                <a:latin typeface="Calibri"/>
              </a:defRPr>
            </a:pPr>
            <a:r>
              <a:t>No AI, no code-level traceability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788920"/>
            <a:ext cx="2240280" cy="731520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8803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Doorstop / StrictDoc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788920"/>
            <a:ext cx="3154680" cy="731520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288036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Requirements-as-code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788920"/>
            <a:ext cx="4069080" cy="731520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88036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4D4D"/>
                </a:solidFill>
                <a:latin typeface="Calibri"/>
              </a:defRPr>
            </a:pPr>
            <a:r>
              <a:t>No test derivation, limited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566160"/>
            <a:ext cx="224028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65760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TRLC + LOBSTER</a:t>
            </a:r>
            <a:br/>
            <a:r>
              <a:t>(BMW)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3566160"/>
            <a:ext cx="315468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36576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Traceability with</a:t>
            </a:r>
            <a:br/>
            <a:r>
              <a:t>ISO 26262 support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566160"/>
            <a:ext cx="406908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65760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4D4D"/>
                </a:solidFill>
                <a:latin typeface="Calibri"/>
              </a:defRPr>
            </a:pPr>
            <a:r>
              <a:t>No AI skills, no templates,</a:t>
            </a:r>
            <a:br/>
            <a:r>
              <a:t>not end-to-end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343400"/>
            <a:ext cx="2240280" cy="731520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348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SonarQube /</a:t>
            </a:r>
            <a:br/>
            <a:r>
              <a:t>SpotBugs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4343400"/>
            <a:ext cx="3154680" cy="731520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4680" y="443484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Code quality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343400"/>
            <a:ext cx="4069080" cy="731520"/>
          </a:xfrm>
          <a:prstGeom prst="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43484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4D4D"/>
                </a:solidFill>
                <a:latin typeface="Calibri"/>
              </a:defRPr>
            </a:pPr>
            <a:r>
              <a:t>No V-model awareness,</a:t>
            </a:r>
            <a:br/>
            <a:r>
              <a:t>no requirements link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120640"/>
            <a:ext cx="224028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2120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Copilot / Cursor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20" y="5120640"/>
            <a:ext cx="315468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54680" y="52120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AI code generation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120640"/>
            <a:ext cx="406908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521208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4D4D"/>
                </a:solidFill>
                <a:latin typeface="Calibri"/>
              </a:defRPr>
            </a:pPr>
            <a:r>
              <a:t>No safety awareness,</a:t>
            </a:r>
            <a:br/>
            <a:r>
              <a:t>no traceability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486400"/>
            <a:ext cx="10515600" cy="64008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55778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8C42"/>
                </a:solidFill>
                <a:latin typeface="Calibri"/>
              </a:defRPr>
            </a:pPr>
            <a:r>
              <a:t>No competitor provides end-to-end DRTDD + V-model compliance + traceability + agentic orchestration.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Estimated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347472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Traceability</a:t>
            </a:r>
            <a:br/>
            <a:r>
              <a:t>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651760"/>
            <a:ext cx="1920240" cy="18288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4D4D"/>
                </a:solidFill>
                <a:latin typeface="Calibri"/>
              </a:defRPr>
            </a:pPr>
            <a:r>
              <a:t>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30-50% of</a:t>
            </a:r>
            <a:br/>
            <a:r>
              <a:t>doc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CC71"/>
                </a:solidFill>
                <a:latin typeface="Calibri"/>
              </a:defRPr>
            </a:pPr>
            <a:r>
              <a:t>With VModelWorkflow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Automated</a:t>
            </a:r>
            <a:br/>
            <a:r>
              <a:t>near 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ECC71"/>
                </a:solidFill>
                <a:latin typeface="Calibri"/>
              </a:defRPr>
            </a:pPr>
            <a:r>
              <a:t>~90%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8C8"/>
                </a:solidFill>
                <a:latin typeface="Calibri"/>
              </a:defRPr>
            </a:pPr>
            <a:r>
              <a:t>reduction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645920"/>
            <a:ext cx="2468880" cy="347472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  <a:br/>
            <a:r>
              <a:t>Overhead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2651760"/>
            <a:ext cx="1920240" cy="18288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4D4D"/>
                </a:solidFill>
                <a:latin typeface="Calibri"/>
              </a:defRPr>
            </a:pPr>
            <a:r>
              <a:t>Current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+20-40%</a:t>
            </a:r>
            <a:br/>
            <a:r>
              <a:t>dev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657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CC71"/>
                </a:solidFill>
                <a:latin typeface="Calibri"/>
              </a:defRPr>
            </a:pPr>
            <a:r>
              <a:t>With VModelWorkflow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931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AI pre-review</a:t>
            </a:r>
            <a:br/>
            <a:r>
              <a:t>reduces burden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480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ECC71"/>
                </a:solidFill>
                <a:latin typeface="Calibri"/>
              </a:defRPr>
            </a:pPr>
            <a:r>
              <a:t>~60%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8C8"/>
                </a:solidFill>
                <a:latin typeface="Calibri"/>
              </a:defRPr>
            </a:pPr>
            <a:r>
              <a:t>reduction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645920"/>
            <a:ext cx="2468880" cy="347472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Legacy</a:t>
            </a:r>
            <a:br/>
            <a:r>
              <a:t>Retrofit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651760"/>
            <a:ext cx="1920240" cy="18288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743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4D4D"/>
                </a:solidFill>
                <a:latin typeface="Calibri"/>
              </a:defRPr>
            </a:pPr>
            <a:r>
              <a:t>Current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2-3x greenfield</a:t>
            </a:r>
            <a:br/>
            <a:r>
              <a:t>effort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57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CC71"/>
                </a:solidFill>
                <a:latin typeface="Calibri"/>
              </a:defRPr>
            </a:pPr>
            <a:r>
              <a:t>With VModelWorkflow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31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Incremental</a:t>
            </a:r>
            <a:br/>
            <a:r>
              <a:t>AI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80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ECC71"/>
                </a:solidFill>
                <a:latin typeface="Calibri"/>
              </a:defRPr>
            </a:pPr>
            <a:r>
              <a:t>~50%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8C8"/>
                </a:solidFill>
                <a:latin typeface="Calibri"/>
              </a:defRPr>
            </a:pPr>
            <a:r>
              <a:t>reduction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1645920"/>
            <a:ext cx="2468880" cy="347472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Audit</a:t>
            </a:r>
            <a:br/>
            <a:r>
              <a:t>Preparation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2651760"/>
            <a:ext cx="1920240" cy="18288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2743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4D4D"/>
                </a:solidFill>
                <a:latin typeface="Calibri"/>
              </a:defRPr>
            </a:pPr>
            <a:r>
              <a:t>Current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Weeks of</a:t>
            </a:r>
            <a:br/>
            <a:r>
              <a:t>gathering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CC71"/>
                </a:solidFill>
                <a:latin typeface="Calibri"/>
              </a:defRPr>
            </a:pPr>
            <a:r>
              <a:t>With VModelWorkflow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931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8C8"/>
                </a:solidFill>
                <a:latin typeface="Calibri"/>
              </a:defRPr>
            </a:pPr>
            <a:r>
              <a:t>Continuous</a:t>
            </a:r>
            <a:br/>
            <a: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480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ECC71"/>
                </a:solidFill>
                <a:latin typeface="Calibri"/>
              </a:defRPr>
            </a:pPr>
            <a:r>
              <a:t>~80%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8C8"/>
                </a:solidFill>
                <a:latin typeface="Calibri"/>
              </a:defRPr>
            </a:pPr>
            <a:r>
              <a:t>reduction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486400"/>
            <a:ext cx="10515600" cy="640080"/>
          </a:xfrm>
          <a:prstGeom prst="round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55778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ECC71"/>
                </a:solidFill>
                <a:latin typeface="Calibri"/>
              </a:defRPr>
            </a:pPr>
            <a:r>
              <a:t>Overall automation potential: 60-70% reduction with proper tooling + agent workflows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 Light"/>
              </a:defRPr>
            </a:pPr>
            <a:r>
              <a:t>VModelWorkflow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737360"/>
            <a:ext cx="210312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0" y="2304288"/>
            <a:ext cx="164592" cy="164592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96D6"/>
                </a:solidFill>
                <a:latin typeface="Calibri"/>
              </a:defRPr>
            </a:pPr>
            <a:r>
              <a:t>Modular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212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Adopt what you need, each component works independently</a:t>
            </a:r>
          </a:p>
        </p:txBody>
      </p:sp>
      <p:sp>
        <p:nvSpPr>
          <p:cNvPr id="9" name="Oval 8"/>
          <p:cNvSpPr/>
          <p:nvPr/>
        </p:nvSpPr>
        <p:spPr>
          <a:xfrm>
            <a:off x="2286000" y="2944368"/>
            <a:ext cx="164592" cy="164592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B4A0"/>
                </a:solidFill>
                <a:latin typeface="Calibri"/>
              </a:defRPr>
            </a:pPr>
            <a:r>
              <a:t>Incremental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852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Works on legacy code, module-by-module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0" y="3584448"/>
            <a:ext cx="164592" cy="164592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8C42"/>
                </a:solidFill>
                <a:latin typeface="Calibri"/>
              </a:defRPr>
            </a:pPr>
            <a:r>
              <a:t>Domain-Agnostic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493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Same core across aviation, automotive, medical, railway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0" y="4224528"/>
            <a:ext cx="164592" cy="164592"/>
          </a:xfrm>
          <a:prstGeom prst="ellipse">
            <a:avLst/>
          </a:prstGeom>
          <a:solidFill>
            <a:srgbClr val="AA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A66CC"/>
                </a:solidFill>
                <a:latin typeface="Calibri"/>
              </a:defRPr>
            </a:pPr>
            <a:r>
              <a:t>AI-Native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1330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Designed for mid-senior engineers orchestrating AI agents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0" y="4864608"/>
            <a:ext cx="164592" cy="164592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ECC71"/>
                </a:solidFill>
                <a:latin typeface="Calibri"/>
              </a:defRPr>
            </a:pPr>
            <a:r>
              <a:t>Documentation-Proven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7731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8C8"/>
                </a:solidFill>
                <a:latin typeface="Calibri"/>
              </a:defRPr>
            </a:pPr>
            <a:r>
              <a:t>Every claim backed by exhaustive best practices documentation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5486400"/>
            <a:ext cx="850392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7607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B4A0"/>
                </a:solidFill>
                <a:latin typeface="Calibri"/>
              </a:defRPr>
            </a:pPr>
            <a:r>
              <a:t>The V-model was designed for human discipline.</a:t>
            </a:r>
            <a:br/>
            <a:r>
              <a:t>It turns out to be the perfect structure for AI discipline too.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8C8"/>
                </a:solidFill>
                <a:latin typeface="Calibri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